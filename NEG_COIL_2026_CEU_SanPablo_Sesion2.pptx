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7" r:id="rId4"/>
    <p:sldId id="262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74" r:id="rId13"/>
  </p:sldIdLst>
  <p:sldSz cx="9144000" cy="5143500" type="screen16x9"/>
  <p:notesSz cx="6858000" cy="9144000"/>
  <p:embeddedFontLst>
    <p:embeddedFont>
      <p:font typeface="Proxima Nova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A3FED-5A7D-40AF-9BA6-013EB3B345E5}" v="1" dt="2026-04-27T12:03:39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4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katerini Koutsou" userId="794eabbc-4ab7-410d-8bbe-e12f94f3fd98" providerId="ADAL" clId="{426E1E54-5887-4449-83C0-FDC894787F21}"/>
    <pc:docChg chg="custSel modSld">
      <pc:chgData name="Aikaterini Koutsou" userId="794eabbc-4ab7-410d-8bbe-e12f94f3fd98" providerId="ADAL" clId="{426E1E54-5887-4449-83C0-FDC894787F21}" dt="2026-04-27T12:03:50.245" v="30" actId="20577"/>
      <pc:docMkLst>
        <pc:docMk/>
      </pc:docMkLst>
      <pc:sldChg chg="modSp mod">
        <pc:chgData name="Aikaterini Koutsou" userId="794eabbc-4ab7-410d-8bbe-e12f94f3fd98" providerId="ADAL" clId="{426E1E54-5887-4449-83C0-FDC894787F21}" dt="2026-04-27T12:03:50.245" v="30" actId="20577"/>
        <pc:sldMkLst>
          <pc:docMk/>
          <pc:sldMk cId="0" sldId="274"/>
        </pc:sldMkLst>
        <pc:spChg chg="mod">
          <ac:chgData name="Aikaterini Koutsou" userId="794eabbc-4ab7-410d-8bbe-e12f94f3fd98" providerId="ADAL" clId="{426E1E54-5887-4449-83C0-FDC894787F21}" dt="2026-04-27T12:03:50.245" v="30" actId="20577"/>
          <ac:spMkLst>
            <pc:docMk/>
            <pc:sldMk cId="0" sldId="274"/>
            <ac:spMk id="2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0804643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70804643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0804643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0804643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08A29105-539A-7F1A-62E2-09F4C34E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08046434_0_24:notes">
            <a:extLst>
              <a:ext uri="{FF2B5EF4-FFF2-40B4-BE49-F238E27FC236}">
                <a16:creationId xmlns:a16="http://schemas.microsoft.com/office/drawing/2014/main" id="{338674A0-9E89-143F-7F16-B0746C3AA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08046434_0_24:notes">
            <a:extLst>
              <a:ext uri="{FF2B5EF4-FFF2-40B4-BE49-F238E27FC236}">
                <a16:creationId xmlns:a16="http://schemas.microsoft.com/office/drawing/2014/main" id="{9C10680F-737B-32D2-DF26-402AEF0ED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742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2247DF81-0E6F-C5DA-E1EF-64336582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08046434_0_24:notes">
            <a:extLst>
              <a:ext uri="{FF2B5EF4-FFF2-40B4-BE49-F238E27FC236}">
                <a16:creationId xmlns:a16="http://schemas.microsoft.com/office/drawing/2014/main" id="{E7EF8320-AACF-DBE2-C712-F0EA65CB0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08046434_0_24:notes">
            <a:extLst>
              <a:ext uri="{FF2B5EF4-FFF2-40B4-BE49-F238E27FC236}">
                <a16:creationId xmlns:a16="http://schemas.microsoft.com/office/drawing/2014/main" id="{0C8B97FB-A4E4-876B-199F-E23A7CB554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797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B6E6058A-AC00-7FA6-2747-CFFE5A33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08046434_0_24:notes">
            <a:extLst>
              <a:ext uri="{FF2B5EF4-FFF2-40B4-BE49-F238E27FC236}">
                <a16:creationId xmlns:a16="http://schemas.microsoft.com/office/drawing/2014/main" id="{3E268EE5-9911-8242-9C56-807211084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08046434_0_24:notes">
            <a:extLst>
              <a:ext uri="{FF2B5EF4-FFF2-40B4-BE49-F238E27FC236}">
                <a16:creationId xmlns:a16="http://schemas.microsoft.com/office/drawing/2014/main" id="{932D7A41-7FEB-0440-D36D-FC4766A18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915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cb9a3abe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cb9a3abe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73763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7376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7376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eu365-my.sharepoint.com/:u:/g/personal/aikaterini_koutsou_ceu_es/IQDDpgN9P0hvRKR0j-ubF4nYAabjVT1-D18CErBNXDnfmks?e=PaXAhb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fjbrunetti@uc.edu.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5" title="NP_escalera_IA.png"/>
          <p:cNvPicPr preferRelativeResize="0"/>
          <p:nvPr/>
        </p:nvPicPr>
        <p:blipFill rotWithShape="1">
          <a:blip r:embed="rId3">
            <a:alphaModFix amt="60000"/>
          </a:blip>
          <a:srcRect t="4929" b="11108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/>
              <a:t>Procesamiento de datos biomecánicos de MMII</a:t>
            </a:r>
            <a:endParaRPr sz="5500"/>
          </a:p>
        </p:txBody>
      </p:sp>
      <p:sp>
        <p:nvSpPr>
          <p:cNvPr id="106" name="Google Shape;106;p25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A. Koutsou, S. Saugar (CEU)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D. Barboza, F. Brunetti (UC)</a:t>
            </a:r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subTitle" idx="1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neuroingenieria@uc.edu.py</a:t>
            </a:r>
            <a:endParaRPr sz="1800"/>
          </a:p>
        </p:txBody>
      </p:sp>
      <p:cxnSp>
        <p:nvCxnSpPr>
          <p:cNvPr id="108" name="Google Shape;108;p25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</a:t>
            </a:r>
            <a:r>
              <a:rPr lang="en-GB" dirty="0"/>
              <a:t>a</a:t>
            </a:r>
            <a:r>
              <a:rPr lang="es" dirty="0"/>
              <a:t>reas Sesion 1 </a:t>
            </a:r>
            <a:br>
              <a:rPr lang="es" dirty="0"/>
            </a:br>
            <a:endParaRPr dirty="0"/>
          </a:p>
        </p:txBody>
      </p:sp>
      <p:sp>
        <p:nvSpPr>
          <p:cNvPr id="114" name="Google Shape;114;p26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" dirty="0"/>
              <a:t>Grupo C:</a:t>
            </a:r>
            <a:endParaRPr dirty="0"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AutoNum type="arabicPeriod"/>
            </a:pPr>
            <a:r>
              <a:rPr lang="en-GB" dirty="0" err="1"/>
              <a:t>Cargar</a:t>
            </a:r>
            <a:r>
              <a:rPr lang="en-GB" dirty="0"/>
              <a:t> la </a:t>
            </a:r>
            <a:r>
              <a:rPr lang="en-GB" dirty="0" err="1"/>
              <a:t>carpeta</a:t>
            </a:r>
            <a:r>
              <a:rPr lang="en-GB" dirty="0"/>
              <a:t> con los </a:t>
            </a:r>
            <a:r>
              <a:rPr lang="en-GB" dirty="0" err="1"/>
              <a:t>ficheros</a:t>
            </a:r>
            <a:endParaRPr lang="en-GB" dirty="0"/>
          </a:p>
          <a:p>
            <a:pPr lvl="0">
              <a:buAutoNum type="arabicPeriod"/>
            </a:pPr>
            <a:r>
              <a:rPr lang="en-GB" dirty="0" err="1"/>
              <a:t>Contar</a:t>
            </a:r>
            <a:r>
              <a:rPr lang="en-GB" dirty="0"/>
              <a:t> los </a:t>
            </a:r>
            <a:r>
              <a:rPr lang="en-GB" dirty="0" err="1"/>
              <a:t>metadatos</a:t>
            </a:r>
            <a:r>
              <a:rPr lang="en-GB" dirty="0"/>
              <a:t> de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fichero</a:t>
            </a:r>
            <a:endParaRPr lang="en-GB" dirty="0"/>
          </a:p>
          <a:p>
            <a:pPr lvl="0">
              <a:buAutoNum type="arabicPeriod"/>
            </a:pPr>
            <a:r>
              <a:rPr lang="en-GB" dirty="0"/>
              <a:t>Leer los campos de los </a:t>
            </a:r>
            <a:r>
              <a:rPr lang="en-GB" dirty="0" err="1"/>
              <a:t>metadatos</a:t>
            </a:r>
            <a:endParaRPr lang="en-GB" dirty="0"/>
          </a:p>
          <a:p>
            <a:pPr lvl="0">
              <a:buAutoNum type="arabicPeriod"/>
            </a:pPr>
            <a:r>
              <a:rPr lang="en-GB" dirty="0"/>
              <a:t>Leer los </a:t>
            </a:r>
            <a:r>
              <a:rPr lang="en-GB" dirty="0" err="1"/>
              <a:t>valores</a:t>
            </a:r>
            <a:r>
              <a:rPr lang="en-GB" dirty="0"/>
              <a:t> de los campos de los </a:t>
            </a:r>
            <a:r>
              <a:rPr lang="en-GB" dirty="0" err="1"/>
              <a:t>metadatos</a:t>
            </a:r>
            <a:endParaRPr lang="en-GB" dirty="0"/>
          </a:p>
          <a:p>
            <a:pPr lvl="0">
              <a:buAutoNum type="arabicPeriod"/>
            </a:pPr>
            <a:r>
              <a:rPr lang="en-GB" dirty="0" err="1"/>
              <a:t>Imprimir</a:t>
            </a:r>
            <a:r>
              <a:rPr lang="en-GB" dirty="0"/>
              <a:t> </a:t>
            </a:r>
            <a:r>
              <a:rPr lang="en-GB" dirty="0" err="1"/>
              <a:t>Metadatos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Template de codico en C:</a:t>
            </a:r>
            <a:endParaRPr dirty="0"/>
          </a:p>
        </p:txBody>
      </p:sp>
      <p:sp>
        <p:nvSpPr>
          <p:cNvPr id="154" name="Google Shape;154;p31"/>
          <p:cNvSpPr txBox="1">
            <a:spLocks noGrp="1"/>
          </p:cNvSpPr>
          <p:nvPr>
            <p:ph type="body" idx="1"/>
          </p:nvPr>
        </p:nvSpPr>
        <p:spPr>
          <a:xfrm>
            <a:off x="396761" y="2626857"/>
            <a:ext cx="4905342" cy="17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en-GB" sz="1400" dirty="0"/>
              <a:t>// "macro" </a:t>
            </a:r>
            <a:r>
              <a:rPr lang="en-GB" sz="1400" dirty="0" err="1"/>
              <a:t>estructura</a:t>
            </a:r>
            <a:endParaRPr lang="en-GB" sz="1400" dirty="0"/>
          </a:p>
          <a:p>
            <a:pPr marL="114300" lvl="0" indent="0">
              <a:buNone/>
            </a:pPr>
            <a:r>
              <a:rPr lang="en-GB" sz="1400" dirty="0">
                <a:solidFill>
                  <a:srgbClr val="0B02C0"/>
                </a:solidFill>
              </a:rPr>
              <a:t>typedef struct </a:t>
            </a:r>
            <a:r>
              <a:rPr lang="en-GB" sz="1400" dirty="0"/>
              <a:t>{</a:t>
            </a:r>
          </a:p>
          <a:p>
            <a:pPr marL="114300" lvl="0" indent="0">
              <a:buNone/>
            </a:pPr>
            <a:r>
              <a:rPr lang="en-GB" sz="1400" dirty="0"/>
              <a:t>    </a:t>
            </a:r>
            <a:r>
              <a:rPr lang="en-GB" sz="1400" dirty="0">
                <a:solidFill>
                  <a:srgbClr val="0B02C0"/>
                </a:solidFill>
              </a:rPr>
              <a:t>char</a:t>
            </a:r>
            <a:r>
              <a:rPr lang="en-GB" sz="1400" dirty="0"/>
              <a:t> </a:t>
            </a:r>
            <a:r>
              <a:rPr lang="en-GB" sz="1400" dirty="0" err="1"/>
              <a:t>nombre_fichero</a:t>
            </a:r>
            <a:r>
              <a:rPr lang="en-GB" sz="1400" dirty="0"/>
              <a:t>[MAX_TEXTO];</a:t>
            </a:r>
          </a:p>
          <a:p>
            <a:pPr marL="114300" lvl="0" indent="0">
              <a:buNone/>
            </a:pPr>
            <a:r>
              <a:rPr lang="en-GB" sz="1400" dirty="0"/>
              <a:t>    </a:t>
            </a:r>
            <a:r>
              <a:rPr lang="en-GB" sz="1400" dirty="0">
                <a:solidFill>
                  <a:srgbClr val="0B02C0"/>
                </a:solidFill>
              </a:rPr>
              <a:t>int</a:t>
            </a:r>
            <a:r>
              <a:rPr lang="en-GB" sz="1400" dirty="0"/>
              <a:t> </a:t>
            </a:r>
            <a:r>
              <a:rPr lang="en-GB" sz="1400" dirty="0" err="1"/>
              <a:t>total_metadatos</a:t>
            </a:r>
            <a:r>
              <a:rPr lang="en-GB" sz="1400" dirty="0"/>
              <a:t>;</a:t>
            </a:r>
          </a:p>
          <a:p>
            <a:pPr marL="114300" lvl="0" indent="0">
              <a:buNone/>
            </a:pPr>
            <a:r>
              <a:rPr lang="en-GB" sz="1400" dirty="0"/>
              <a:t>    </a:t>
            </a:r>
            <a:r>
              <a:rPr lang="en-GB" sz="1400" dirty="0">
                <a:solidFill>
                  <a:srgbClr val="0B02C0"/>
                </a:solidFill>
              </a:rPr>
              <a:t>char</a:t>
            </a:r>
            <a:r>
              <a:rPr lang="en-GB" sz="1400" dirty="0"/>
              <a:t> campos[MAX_METADATOS][MAX_TEXTO];</a:t>
            </a:r>
          </a:p>
          <a:p>
            <a:pPr marL="114300" lvl="0" indent="0">
              <a:buNone/>
            </a:pPr>
            <a:r>
              <a:rPr lang="en-GB" sz="1400" dirty="0"/>
              <a:t>    </a:t>
            </a:r>
            <a:r>
              <a:rPr lang="en-GB" sz="1400" dirty="0">
                <a:solidFill>
                  <a:srgbClr val="0B02C0"/>
                </a:solidFill>
              </a:rPr>
              <a:t>char </a:t>
            </a:r>
            <a:r>
              <a:rPr lang="en-GB" sz="1400" dirty="0" err="1"/>
              <a:t>valores</a:t>
            </a:r>
            <a:r>
              <a:rPr lang="en-GB" sz="1400" dirty="0"/>
              <a:t>[MAX_METADATOS][MAX_TEXTO];</a:t>
            </a:r>
          </a:p>
          <a:p>
            <a:pPr marL="114300" lvl="0" indent="0">
              <a:buNone/>
            </a:pPr>
            <a:r>
              <a:rPr lang="en-GB" sz="1400" dirty="0"/>
              <a:t>} </a:t>
            </a:r>
            <a:r>
              <a:rPr lang="en-GB" sz="1400" dirty="0" err="1"/>
              <a:t>RegistroCSV</a:t>
            </a:r>
            <a:r>
              <a:rPr lang="en-GB" sz="1400" dirty="0"/>
              <a:t>;</a:t>
            </a:r>
            <a:endParaRPr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4CB426-5757-8582-5352-0CEBA4E38F9D}"/>
              </a:ext>
            </a:extLst>
          </p:cNvPr>
          <p:cNvSpPr txBox="1"/>
          <p:nvPr/>
        </p:nvSpPr>
        <p:spPr>
          <a:xfrm>
            <a:off x="467833" y="1318437"/>
            <a:ext cx="24809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Ficheros (Tema 6.3)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Structs</a:t>
            </a:r>
            <a:r>
              <a:rPr lang="es-ES" dirty="0"/>
              <a:t> (Tema 6.1)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Arrays</a:t>
            </a:r>
            <a:r>
              <a:rPr lang="es-ES" dirty="0"/>
              <a:t> (Tema 6.1)</a:t>
            </a:r>
            <a:endParaRPr lang="es-ES_tradnl" dirty="0">
              <a:solidFill>
                <a:schemeClr val="accent3"/>
              </a:solidFill>
            </a:endParaRPr>
          </a:p>
          <a:p>
            <a:endParaRPr lang="es-ES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14C8CA27-4EC6-A0DA-DECE-8E82E1B9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>
            <a:extLst>
              <a:ext uri="{FF2B5EF4-FFF2-40B4-BE49-F238E27FC236}">
                <a16:creationId xmlns:a16="http://schemas.microsoft.com/office/drawing/2014/main" id="{90A5A69D-E48D-B401-1BFB-012C6CE16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Funciones principales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5ADDCE-E364-965E-60C1-510684A50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473135"/>
            <a:ext cx="8605284" cy="17995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DCBFD4B-A9E8-57AD-DA66-76C62A898798}"/>
              </a:ext>
            </a:extLst>
          </p:cNvPr>
          <p:cNvSpPr txBox="1"/>
          <p:nvPr/>
        </p:nvSpPr>
        <p:spPr>
          <a:xfrm>
            <a:off x="99236" y="1658679"/>
            <a:ext cx="21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1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611DBD-B114-B839-7DCB-C2C5BF26C0B8}"/>
              </a:ext>
            </a:extLst>
          </p:cNvPr>
          <p:cNvSpPr txBox="1"/>
          <p:nvPr/>
        </p:nvSpPr>
        <p:spPr>
          <a:xfrm>
            <a:off x="102782" y="1988286"/>
            <a:ext cx="21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2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53C44B-17CD-5C0C-5401-E711B3787EA2}"/>
              </a:ext>
            </a:extLst>
          </p:cNvPr>
          <p:cNvSpPr txBox="1"/>
          <p:nvPr/>
        </p:nvSpPr>
        <p:spPr>
          <a:xfrm>
            <a:off x="106328" y="2310808"/>
            <a:ext cx="21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3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8CAE2D-9773-FDB5-D7F9-8AFA9D729459}"/>
              </a:ext>
            </a:extLst>
          </p:cNvPr>
          <p:cNvSpPr txBox="1"/>
          <p:nvPr/>
        </p:nvSpPr>
        <p:spPr>
          <a:xfrm>
            <a:off x="92147" y="2672285"/>
            <a:ext cx="21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B744274-A23C-29F4-6F04-5F6A8D9D34BE}"/>
              </a:ext>
            </a:extLst>
          </p:cNvPr>
          <p:cNvSpPr txBox="1"/>
          <p:nvPr/>
        </p:nvSpPr>
        <p:spPr>
          <a:xfrm>
            <a:off x="91954" y="2847438"/>
            <a:ext cx="21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5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E899D44-B856-6799-6EB2-79EB1C986BBA}"/>
              </a:ext>
            </a:extLst>
          </p:cNvPr>
          <p:cNvSpPr/>
          <p:nvPr/>
        </p:nvSpPr>
        <p:spPr>
          <a:xfrm>
            <a:off x="106328" y="2571750"/>
            <a:ext cx="7230137" cy="605295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92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3435F9EA-883B-3CB3-F764-7DBC8E15F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>
            <a:extLst>
              <a:ext uri="{FF2B5EF4-FFF2-40B4-BE49-F238E27FC236}">
                <a16:creationId xmlns:a16="http://schemas.microsoft.com/office/drawing/2014/main" id="{2E4A3EF1-6F88-2B4A-2CC1-792C513B3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Funciones de soporte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282593-F9CE-01D3-E5B2-5C73AA78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7" y="1612165"/>
            <a:ext cx="7924800" cy="154305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8BC6469-AFEC-8601-E7B3-029606BC97C1}"/>
              </a:ext>
            </a:extLst>
          </p:cNvPr>
          <p:cNvSpPr/>
          <p:nvPr/>
        </p:nvSpPr>
        <p:spPr>
          <a:xfrm>
            <a:off x="489097" y="2821172"/>
            <a:ext cx="6570922" cy="219740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51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FC38EEEF-7D18-896A-EE98-4EAE13CD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>
            <a:extLst>
              <a:ext uri="{FF2B5EF4-FFF2-40B4-BE49-F238E27FC236}">
                <a16:creationId xmlns:a16="http://schemas.microsoft.com/office/drawing/2014/main" id="{04AE560C-5297-9EE2-634B-AA0950832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668" y="12193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 dirty="0"/>
              <a:t>1. </a:t>
            </a:r>
            <a:r>
              <a:rPr lang="en-GB" dirty="0" err="1"/>
              <a:t>Cargar</a:t>
            </a:r>
            <a:r>
              <a:rPr lang="en-GB" dirty="0"/>
              <a:t> la </a:t>
            </a:r>
            <a:r>
              <a:rPr lang="en-GB" dirty="0" err="1"/>
              <a:t>carpeta</a:t>
            </a:r>
            <a:r>
              <a:rPr lang="en-GB" dirty="0"/>
              <a:t> con los </a:t>
            </a:r>
            <a:r>
              <a:rPr lang="en-GB" dirty="0" err="1"/>
              <a:t>ficheros</a:t>
            </a:r>
            <a:br>
              <a:rPr lang="en-GB" dirty="0"/>
            </a:b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6843C4-9BF5-0A50-5291-DEA20D68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1017725"/>
            <a:ext cx="6208638" cy="400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9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5FF27-5DC1-9F68-2E8F-5CDE83C8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05" y="169537"/>
            <a:ext cx="8520600" cy="572700"/>
          </a:xfrm>
        </p:spPr>
        <p:txBody>
          <a:bodyPr/>
          <a:lstStyle/>
          <a:p>
            <a:r>
              <a:rPr lang="es-ES" dirty="0"/>
              <a:t>2. </a:t>
            </a:r>
            <a:r>
              <a:rPr lang="en-GB" dirty="0" err="1"/>
              <a:t>Contar</a:t>
            </a:r>
            <a:r>
              <a:rPr lang="en-GB" dirty="0"/>
              <a:t> los </a:t>
            </a:r>
            <a:r>
              <a:rPr lang="en-GB" dirty="0" err="1"/>
              <a:t>metadatos</a:t>
            </a:r>
            <a:r>
              <a:rPr lang="en-GB" dirty="0"/>
              <a:t> de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fichero</a:t>
            </a:r>
            <a:br>
              <a:rPr lang="en-GB" dirty="0"/>
            </a:br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A292A7-D267-8BF6-61E3-56BEA3AE8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79" y="719441"/>
            <a:ext cx="5358502" cy="425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0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D8C7E-32F2-1A60-CA3D-E865E266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5962"/>
            <a:ext cx="8520600" cy="572700"/>
          </a:xfrm>
        </p:spPr>
        <p:txBody>
          <a:bodyPr/>
          <a:lstStyle/>
          <a:p>
            <a:r>
              <a:rPr lang="en-GB" dirty="0"/>
              <a:t>3. Leer los campos de los </a:t>
            </a:r>
            <a:r>
              <a:rPr lang="en-GB" dirty="0" err="1"/>
              <a:t>metadatos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41A7A0-60D3-F6C7-D6D0-9932ACD1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535" y="691660"/>
            <a:ext cx="5971604" cy="433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0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7B73E-630E-16DD-0CB1-6CBCB59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</a:t>
            </a:r>
            <a:r>
              <a:rPr lang="en-GB" dirty="0"/>
              <a:t>Leer los </a:t>
            </a:r>
            <a:r>
              <a:rPr lang="en-GB" dirty="0" err="1"/>
              <a:t>valores</a:t>
            </a:r>
            <a:r>
              <a:rPr lang="en-GB" dirty="0"/>
              <a:t> de los campos de los </a:t>
            </a:r>
            <a:r>
              <a:rPr lang="en-GB" dirty="0" err="1"/>
              <a:t>metadatos</a:t>
            </a:r>
            <a:br>
              <a:rPr lang="en-GB" dirty="0"/>
            </a:br>
            <a:endParaRPr lang="en-GB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22E8FA-CB4C-E768-AFBA-382E684D5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Tips:</a:t>
            </a:r>
          </a:p>
          <a:p>
            <a:pPr lvl="1"/>
            <a:r>
              <a:rPr lang="es-ES" dirty="0"/>
              <a:t>Usar como plantilla la función </a:t>
            </a:r>
            <a:r>
              <a:rPr lang="es-ES" b="1" i="1" dirty="0" err="1">
                <a:solidFill>
                  <a:srgbClr val="0B02C0"/>
                </a:solidFill>
              </a:rPr>
              <a:t>leer_campos</a:t>
            </a:r>
            <a:endParaRPr lang="es-ES" b="1" i="1" dirty="0">
              <a:solidFill>
                <a:srgbClr val="0B02C0"/>
              </a:solidFill>
            </a:endParaRPr>
          </a:p>
          <a:p>
            <a:pPr lvl="1"/>
            <a:r>
              <a:rPr lang="es-ES" dirty="0"/>
              <a:t>Usar función </a:t>
            </a:r>
            <a:r>
              <a:rPr lang="es-ES" i="1" dirty="0" err="1">
                <a:solidFill>
                  <a:srgbClr val="0B02C0"/>
                </a:solidFill>
              </a:rPr>
              <a:t>busca_campo</a:t>
            </a:r>
            <a:endParaRPr lang="en-GB" i="1" dirty="0">
              <a:solidFill>
                <a:srgbClr val="0B02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02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5166C-EC4E-FCB4-6D30-7651A34B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Plantilla código fuente</a:t>
            </a:r>
            <a:endParaRPr lang="en-GB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A09B79-97D7-1D68-A8F3-791A39600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302291" cy="2604362"/>
          </a:xfrm>
        </p:spPr>
        <p:txBody>
          <a:bodyPr/>
          <a:lstStyle/>
          <a:p>
            <a:pPr marL="114300" indent="0">
              <a:buNone/>
            </a:pPr>
            <a:r>
              <a:rPr lang="en-GB" dirty="0">
                <a:hlinkClick r:id="rId2"/>
              </a:rPr>
              <a:t>https://ceu365-my.sharepoint.com/:u:/g/personal/aikaterini_koutsou_ceu_es/IQDDpgN9P0hvRKR0j-ubF4nYAabjVT1-D18CErBNXDnfmks?e=PaXAhb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630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>
            <a:spLocks noGrp="1"/>
          </p:cNvSpPr>
          <p:nvPr>
            <p:ph type="title"/>
          </p:nvPr>
        </p:nvSpPr>
        <p:spPr>
          <a:xfrm>
            <a:off x="4850275" y="78677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Muchas gracias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5" name="Google Shape;275;p43"/>
          <p:cNvSpPr txBox="1">
            <a:spLocks noGrp="1"/>
          </p:cNvSpPr>
          <p:nvPr>
            <p:ph type="subTitle" idx="1"/>
          </p:nvPr>
        </p:nvSpPr>
        <p:spPr>
          <a:xfrm>
            <a:off x="4850275" y="2366400"/>
            <a:ext cx="40452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hlinkClick r:id="rId3"/>
              </a:rPr>
              <a:t>fjbrunetti@uc.edu.py</a:t>
            </a:r>
            <a:endParaRPr lang="es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a</a:t>
            </a:r>
            <a:r>
              <a:rPr lang="es" dirty="0">
                <a:solidFill>
                  <a:schemeClr val="lt1"/>
                </a:solidFill>
              </a:rPr>
              <a:t>ikaterini.koutsou@ceu.es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276" name="Google Shape;276;p43" title="Recurso 7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688" y="4002275"/>
            <a:ext cx="1076676" cy="5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 title="Recurso 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956" y="1046875"/>
            <a:ext cx="2682150" cy="26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254</Words>
  <Application>Microsoft Office PowerPoint</Application>
  <PresentationFormat>Presentación en pantalla (16:9)</PresentationFormat>
  <Paragraphs>41</Paragraphs>
  <Slides>11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Proxima Nova</vt:lpstr>
      <vt:lpstr>Simple Light</vt:lpstr>
      <vt:lpstr>Spearmint</vt:lpstr>
      <vt:lpstr>Procesamiento de datos biomecánicos de MMII</vt:lpstr>
      <vt:lpstr>Tareas Sesion 1  </vt:lpstr>
      <vt:lpstr>Template de codico en C:</vt:lpstr>
      <vt:lpstr>Funciones principales</vt:lpstr>
      <vt:lpstr>Funciones de soporte</vt:lpstr>
      <vt:lpstr>1. Cargar la carpeta con los ficheros </vt:lpstr>
      <vt:lpstr>2. Contar los metadatos de cada fichero </vt:lpstr>
      <vt:lpstr>3. Leer los campos de los metadatos </vt:lpstr>
      <vt:lpstr>4. Leer los valores de los campos de los metadatos </vt:lpstr>
      <vt:lpstr>Plantilla código fuente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Aikaterini Koutsou</cp:lastModifiedBy>
  <cp:revision>11</cp:revision>
  <dcterms:modified xsi:type="dcterms:W3CDTF">2026-04-27T12:03:59Z</dcterms:modified>
</cp:coreProperties>
</file>